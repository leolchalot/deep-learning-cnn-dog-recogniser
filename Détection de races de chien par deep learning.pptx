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bold.fntdata"/><Relationship Id="rId23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25874bc0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25874bc0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25874bc03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25874bc03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25874bc0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25874bc0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25874bc03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25874bc03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Mini-ResNet dopé à l’”attention”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1. Le Bloc Résiduel (</a:t>
            </a:r>
            <a:r>
              <a:rPr b="1" lang="f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res_conv_block</a:t>
            </a:r>
            <a:r>
              <a:rPr b="1" lang="fr" sz="1300">
                <a:solidFill>
                  <a:schemeClr val="dk1"/>
                </a:solidFill>
              </a:rPr>
              <a:t>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Au lieu d'empiler des couches de convolution simples (comme dans VGG16), tu utilises des </a:t>
            </a:r>
            <a:r>
              <a:rPr b="1" lang="fr">
                <a:solidFill>
                  <a:schemeClr val="dk1"/>
                </a:solidFill>
              </a:rPr>
              <a:t>connexions résiduelles</a:t>
            </a:r>
            <a:r>
              <a:rPr lang="fr">
                <a:solidFill>
                  <a:schemeClr val="dk1"/>
                </a:solidFill>
              </a:rPr>
              <a:t> (le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shortcut</a:t>
            </a:r>
            <a:r>
              <a:rPr lang="fr">
                <a:solidFill>
                  <a:schemeClr val="dk1"/>
                </a:solidFill>
              </a:rPr>
              <a:t> et le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layers.Add()</a:t>
            </a:r>
            <a:r>
              <a:rPr lang="fr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Pourquoi ?</a:t>
            </a:r>
            <a:r>
              <a:rPr lang="fr">
                <a:solidFill>
                  <a:schemeClr val="dk1"/>
                </a:solidFill>
              </a:rPr>
              <a:t> C'est la solution au problème de la "disparition du gradient" (Vanishing Gradient).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Le principe :</a:t>
            </a:r>
            <a:r>
              <a:rPr lang="fr">
                <a:solidFill>
                  <a:schemeClr val="dk1"/>
                </a:solidFill>
              </a:rPr>
              <a:t> Le réseau apprend la différence (le résidu) entre l'entrée et la sortie, plutôt que de tout réapprendre à zéro.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2. Squeeze-and-Excitation (</a:t>
            </a:r>
            <a:r>
              <a:rPr b="1" lang="f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se_block</a:t>
            </a:r>
            <a:r>
              <a:rPr b="1" lang="fr" sz="1300">
                <a:solidFill>
                  <a:schemeClr val="dk1"/>
                </a:solidFill>
              </a:rPr>
              <a:t>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C'est la partie la plus avancée de ton code. C'est un </a:t>
            </a:r>
            <a:r>
              <a:rPr b="1" lang="fr">
                <a:solidFill>
                  <a:schemeClr val="dk1"/>
                </a:solidFill>
              </a:rPr>
              <a:t>mécanisme d'attention</a:t>
            </a:r>
            <a:r>
              <a:rPr lang="f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Le problème :</a:t>
            </a:r>
            <a:r>
              <a:rPr lang="fr">
                <a:solidFill>
                  <a:schemeClr val="dk1"/>
                </a:solidFill>
              </a:rPr>
              <a:t> Dans une convolution classique, tous les canaux (les filtres qui détectent "poils", "oreilles", "yeux") sont traités avec la même importance.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La solution SE 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fr">
                <a:solidFill>
                  <a:schemeClr val="dk1"/>
                </a:solidFill>
              </a:rPr>
              <a:t>Squeeze (Compresser) :</a:t>
            </a:r>
            <a:r>
              <a:rPr lang="fr">
                <a:solidFill>
                  <a:schemeClr val="dk1"/>
                </a:solidFill>
              </a:rPr>
              <a:t> On regarde la moyenne globale de chaque filtre (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GlobalAveragePooling2D</a:t>
            </a:r>
            <a:r>
              <a:rPr lang="fr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fr">
                <a:solidFill>
                  <a:schemeClr val="dk1"/>
                </a:solidFill>
              </a:rPr>
              <a:t>Excitation :</a:t>
            </a:r>
            <a:r>
              <a:rPr lang="fr">
                <a:solidFill>
                  <a:schemeClr val="dk1"/>
                </a:solidFill>
              </a:rPr>
              <a:t> Un petit réseau de neurones (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Dense</a:t>
            </a:r>
            <a:r>
              <a:rPr lang="fr">
                <a:solidFill>
                  <a:schemeClr val="dk1"/>
                </a:solidFill>
              </a:rPr>
              <a:t> -&gt;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Relu</a:t>
            </a:r>
            <a:r>
              <a:rPr lang="fr">
                <a:solidFill>
                  <a:schemeClr val="dk1"/>
                </a:solidFill>
              </a:rPr>
              <a:t> -&gt;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Dense</a:t>
            </a:r>
            <a:r>
              <a:rPr lang="fr">
                <a:solidFill>
                  <a:schemeClr val="dk1"/>
                </a:solidFill>
              </a:rPr>
              <a:t> -&gt;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Sigmoid</a:t>
            </a:r>
            <a:r>
              <a:rPr lang="fr">
                <a:solidFill>
                  <a:schemeClr val="dk1"/>
                </a:solidFill>
              </a:rPr>
              <a:t>) calcule un "score d'importance" pour chaque canal.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fr">
                <a:solidFill>
                  <a:schemeClr val="dk1"/>
                </a:solidFill>
              </a:rPr>
              <a:t>Scale :</a:t>
            </a:r>
            <a:r>
              <a:rPr lang="fr">
                <a:solidFill>
                  <a:schemeClr val="dk1"/>
                </a:solidFill>
              </a:rPr>
              <a:t> On multiplie les canaux par ce score.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Résultat :</a:t>
            </a:r>
            <a:r>
              <a:rPr lang="fr">
                <a:solidFill>
                  <a:schemeClr val="dk1"/>
                </a:solidFill>
              </a:rPr>
              <a:t> Le réseau peut dire : </a:t>
            </a:r>
            <a:r>
              <a:rPr i="1" lang="fr">
                <a:solidFill>
                  <a:schemeClr val="dk1"/>
                </a:solidFill>
              </a:rPr>
              <a:t>"Pour cette image, le filtre 'oreilles pointues' est très important, mais le filtre 'herbe en arrière-plan' est inutile, donc je réduis son volume à 0."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3. L'Activation </a:t>
            </a:r>
            <a:r>
              <a:rPr b="1" lang="f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Swish</a:t>
            </a:r>
            <a:r>
              <a:rPr b="1" lang="fr" sz="1300">
                <a:solidFill>
                  <a:schemeClr val="dk1"/>
                </a:solidFill>
              </a:rPr>
              <a:t> (au lieu de ReLU)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Tu utilises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Activation('swish')</a:t>
            </a:r>
            <a:r>
              <a:rPr lang="fr">
                <a:solidFill>
                  <a:schemeClr val="dk1"/>
                </a:solidFill>
              </a:rPr>
              <a:t> partout.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Pourquoi ?</a:t>
            </a:r>
            <a:r>
              <a:rPr lang="fr">
                <a:solidFill>
                  <a:schemeClr val="dk1"/>
                </a:solidFill>
              </a:rPr>
              <a:t> Swish (x×sigmoid(x)) est une activation découverte par Google (utilisée dans EfficientNet).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Avantage :</a:t>
            </a:r>
            <a:r>
              <a:rPr lang="fr">
                <a:solidFill>
                  <a:schemeClr val="dk1"/>
                </a:solidFill>
              </a:rPr>
              <a:t> Contrairement à ReLU qui coupe brutalement les valeurs négatives à zéro, Swish est une courbe douce. Elle laisse passer un peu d'information négative, ce qui aide souvent à améliorer la précision finale de quelques pourcents.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4. Downsampling par Stride (Pas de MaxPooling)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Tu as peut-être remarqué qu'il n'y a pas de couches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MaxPooling2D</a:t>
            </a:r>
            <a:r>
              <a:rPr lang="f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La technique :</a:t>
            </a:r>
            <a:r>
              <a:rPr lang="fr">
                <a:solidFill>
                  <a:schemeClr val="dk1"/>
                </a:solidFill>
              </a:rPr>
              <a:t> Tu utilises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strides=2</a:t>
            </a:r>
            <a:r>
              <a:rPr lang="fr">
                <a:solidFill>
                  <a:schemeClr val="dk1"/>
                </a:solidFill>
              </a:rPr>
              <a:t> dans tes convolutions (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res_conv_block(x, ..., stride=2)</a:t>
            </a:r>
            <a:r>
              <a:rPr lang="fr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Pourquoi ?</a:t>
            </a:r>
            <a:r>
              <a:rPr lang="fr">
                <a:solidFill>
                  <a:schemeClr val="dk1"/>
                </a:solidFill>
              </a:rPr>
              <a:t> Au lieu de réduire brutalement l'image en prenant le pixel maximum (MaxPooling), tu laisses la convolution </a:t>
            </a:r>
            <a:r>
              <a:rPr b="1" lang="fr">
                <a:solidFill>
                  <a:schemeClr val="dk1"/>
                </a:solidFill>
              </a:rPr>
              <a:t>apprendre</a:t>
            </a:r>
            <a:r>
              <a:rPr lang="fr">
                <a:solidFill>
                  <a:schemeClr val="dk1"/>
                </a:solidFill>
              </a:rPr>
              <a:t> comment réduire l'image tout en gardant l'information pertinente. C'est plus subtil et souvent plus efficace.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5. La régularisation L2 et le GlobalAveragePooling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L2 (</a:t>
            </a:r>
            <a:r>
              <a:rPr b="1"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kernel_regularizer</a:t>
            </a:r>
            <a:r>
              <a:rPr b="1" lang="fr">
                <a:solidFill>
                  <a:schemeClr val="dk1"/>
                </a:solidFill>
              </a:rPr>
              <a:t>) :</a:t>
            </a:r>
            <a:r>
              <a:rPr lang="fr">
                <a:solidFill>
                  <a:schemeClr val="dk1"/>
                </a:solidFill>
              </a:rPr>
              <a:t> Tu empêches les poids de devenir trop grands. C'est crucial ici car tu construis un modèle profond sur un dataset qui n'est peut-être pas gigantesque (comparé à ImageNet). Cela évite le sur-apprentissage (overfitting).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GlobalAveragePooling (GAP) final :</a:t>
            </a:r>
            <a:r>
              <a:rPr lang="fr">
                <a:solidFill>
                  <a:schemeClr val="dk1"/>
                </a:solidFill>
              </a:rPr>
              <a:t> Au lieu d'utiliser </a:t>
            </a:r>
            <a:r>
              <a:rPr lang="f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Flatten()</a:t>
            </a:r>
            <a:r>
              <a:rPr lang="fr">
                <a:solidFill>
                  <a:schemeClr val="dk1"/>
                </a:solidFill>
              </a:rPr>
              <a:t> qui créerait des millions de paramètres inutiles à la fin, le GAP fait la moyenne de chaque carte de caractéristiques. Cela rend le modèle beaucoup plus léger et moins sujet au sur-apprentissage.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25874bc0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25874bc0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25874bc0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25874bc0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25874bc0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25874bc0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25874bc0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25874bc0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25874bc03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25874bc03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25874bc0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25874bc0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25874bc0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25874bc0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25874bc0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25874bc0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25874bc0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25874bc0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tilise un fond blanc pour cette slide" id="277" name="Google Shape;2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1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6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297" name="Google Shape;2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302" name="Google Shape;3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307" name="Google Shape;3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312" name="Google Shape;3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317" name="Google Shape;3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322" name="Google Shape;3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1 – Le Modèle "From Scratch"</a:t>
            </a:r>
            <a:endParaRPr/>
          </a:p>
        </p:txBody>
      </p:sp>
      <p:sp>
        <p:nvSpPr>
          <p:cNvPr id="328" name="Google Shape;328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Approche :</a:t>
            </a:r>
            <a:r>
              <a:rPr lang="fr" sz="1100">
                <a:solidFill>
                  <a:schemeClr val="dk1"/>
                </a:solidFill>
              </a:rPr>
              <a:t> Création d'un CNN personnalisé (fichier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notebook_dog_breed_fromScratch.ipynb</a:t>
            </a:r>
            <a:r>
              <a:rPr lang="fr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Structure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Succession de couches de Convolution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Conv2D</a:t>
            </a:r>
            <a:r>
              <a:rPr lang="fr" sz="1100">
                <a:solidFill>
                  <a:schemeClr val="dk1"/>
                </a:solidFill>
              </a:rPr>
              <a:t>) et de Pooling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MaxPooling2D</a:t>
            </a:r>
            <a:r>
              <a:rPr lang="fr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Couches de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Dropout</a:t>
            </a:r>
            <a:r>
              <a:rPr lang="fr" sz="1100">
                <a:solidFill>
                  <a:schemeClr val="dk1"/>
                </a:solidFill>
              </a:rPr>
              <a:t> pour limiter le surapprentissage (overfitting).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Couche de sortie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Dense</a:t>
            </a:r>
            <a:r>
              <a:rPr lang="fr" sz="1100">
                <a:solidFill>
                  <a:schemeClr val="dk1"/>
                </a:solidFill>
              </a:rPr>
              <a:t> avec activation </a:t>
            </a:r>
            <a:r>
              <a:rPr i="1" lang="fr" sz="1100">
                <a:solidFill>
                  <a:schemeClr val="dk1"/>
                </a:solidFill>
              </a:rPr>
              <a:t>Softmax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Verdict :</a:t>
            </a:r>
            <a:r>
              <a:rPr lang="fr" sz="1100">
                <a:solidFill>
                  <a:schemeClr val="dk1"/>
                </a:solidFill>
              </a:rPr>
              <a:t> Modèle pédagogique mais limité par la complexité de la tâche de classification fine.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2 – MobileNetV2 (Transfer Learning)</a:t>
            </a:r>
            <a:endParaRPr/>
          </a:p>
        </p:txBody>
      </p:sp>
      <p:sp>
        <p:nvSpPr>
          <p:cNvPr id="334" name="Google Shape;334;p24"/>
          <p:cNvSpPr txBox="1"/>
          <p:nvPr>
            <p:ph idx="1" type="body"/>
          </p:nvPr>
        </p:nvSpPr>
        <p:spPr>
          <a:xfrm>
            <a:off x="586175" y="1843450"/>
            <a:ext cx="4329300" cy="24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Concept :</a:t>
            </a:r>
            <a:r>
              <a:rPr lang="fr" sz="1100">
                <a:solidFill>
                  <a:schemeClr val="dk1"/>
                </a:solidFill>
              </a:rPr>
              <a:t> Utilisation d'un modèle pré-entraîné sur ImageNet.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Avantages :</a:t>
            </a:r>
            <a:r>
              <a:rPr lang="fr" sz="1100">
                <a:solidFill>
                  <a:schemeClr val="dk1"/>
                </a:solidFill>
              </a:rPr>
              <a:t> * Architecture légère, optimisée pour les appareils mobiles.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Capacité d'extraction de caractéristiques déjà acquise.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Adaptation :</a:t>
            </a:r>
            <a:r>
              <a:rPr lang="fr" sz="1100">
                <a:solidFill>
                  <a:schemeClr val="dk1"/>
                </a:solidFill>
              </a:rPr>
              <a:t> </a:t>
            </a:r>
            <a:r>
              <a:rPr i="1" lang="fr" sz="1100">
                <a:solidFill>
                  <a:schemeClr val="dk1"/>
                </a:solidFill>
              </a:rPr>
              <a:t>Fine-tuning</a:t>
            </a:r>
            <a:r>
              <a:rPr lang="fr" sz="1100">
                <a:solidFill>
                  <a:schemeClr val="dk1"/>
                </a:solidFill>
              </a:rPr>
              <a:t> des dernières couches pour s'adapter aux 120+ races de chiens du projet.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125" y="1936596"/>
            <a:ext cx="3850500" cy="20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3 – EfficientNetB0 (Haute Performance)</a:t>
            </a:r>
            <a:endParaRPr/>
          </a:p>
        </p:txBody>
      </p:sp>
      <p:sp>
        <p:nvSpPr>
          <p:cNvPr id="341" name="Google Shape;341;p25"/>
          <p:cNvSpPr txBox="1"/>
          <p:nvPr>
            <p:ph idx="1" type="body"/>
          </p:nvPr>
        </p:nvSpPr>
        <p:spPr>
          <a:xfrm>
            <a:off x="329050" y="1990050"/>
            <a:ext cx="4169700" cy="20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Description :</a:t>
            </a:r>
            <a:r>
              <a:rPr lang="fr" sz="1100">
                <a:solidFill>
                  <a:schemeClr val="dk1"/>
                </a:solidFill>
              </a:rPr>
              <a:t> Modèle à l'état de l'art utilisant un scaling équilibré (profondeur, largeur, résolution).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Mise en œuvre :</a:t>
            </a:r>
            <a:r>
              <a:rPr lang="fr" sz="1100">
                <a:solidFill>
                  <a:schemeClr val="dk1"/>
                </a:solidFill>
              </a:rPr>
              <a:t> (fichier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notebook_dog_breed_efficientNetB0.ipynb</a:t>
            </a:r>
            <a:r>
              <a:rPr lang="fr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Résultats attendus :</a:t>
            </a:r>
            <a:r>
              <a:rPr lang="fr" sz="1100">
                <a:solidFill>
                  <a:schemeClr val="dk1"/>
                </a:solidFill>
              </a:rPr>
              <a:t> Généralement la meilleure précision parmi les trois modèles grâce à sa capacité de généralisation supérieure sur des détails morphologiques complexes.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486" y="1904600"/>
            <a:ext cx="3892814" cy="20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